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fb60f3f81441b2" /><Relationship Type="http://schemas.openxmlformats.org/officeDocument/2006/relationships/extended-properties" Target="/docProps/app.xml" Id="R063fe5198d8045da" /><Relationship Type="http://schemas.openxmlformats.org/officeDocument/2006/relationships/officeDocument" Target="/ppt/presentation.xml" Id="Rda358e6795ca4b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21dfe04eb849e2"/>
  </p:sldMasterIdLst>
  <p:notesMasterIdLst>
    <p:notesMasterId xmlns:r="http://schemas.openxmlformats.org/officeDocument/2006/relationships" r:id="Ra02183d0c0ab46a7"/>
  </p:notesMasterIdLst>
  <p:sldIdLst>
    <p:sldId xmlns:r="http://schemas.openxmlformats.org/officeDocument/2006/relationships" id="256" r:id="R90ba14e468ae43fa"/>
    <p:sldId xmlns:r="http://schemas.openxmlformats.org/officeDocument/2006/relationships" id="257" r:id="R3238a29287be4040"/>
    <p:sldId xmlns:r="http://schemas.openxmlformats.org/officeDocument/2006/relationships" id="258" r:id="R78bff96929f64c2c"/>
    <p:sldId xmlns:r="http://schemas.openxmlformats.org/officeDocument/2006/relationships" id="259" r:id="R81c368d224104317"/>
    <p:sldId xmlns:r="http://schemas.openxmlformats.org/officeDocument/2006/relationships" id="260" r:id="Redfe8ea3d66c4bc6"/>
    <p:sldId xmlns:r="http://schemas.openxmlformats.org/officeDocument/2006/relationships" id="261" r:id="Rd970ad954fb642b5"/>
    <p:sldId xmlns:r="http://schemas.openxmlformats.org/officeDocument/2006/relationships" id="262" r:id="R1bae15c155934bb3"/>
    <p:sldId xmlns:r="http://schemas.openxmlformats.org/officeDocument/2006/relationships" id="263" r:id="Re6e3fa8452a942d2"/>
    <p:sldId xmlns:r="http://schemas.openxmlformats.org/officeDocument/2006/relationships" id="264" r:id="R60f73fe8e4d044ad"/>
    <p:sldId xmlns:r="http://schemas.openxmlformats.org/officeDocument/2006/relationships" id="265" r:id="R3851cb72adce46cf"/>
    <p:sldId xmlns:r="http://schemas.openxmlformats.org/officeDocument/2006/relationships" id="266" r:id="R17a994d885594dee"/>
    <p:sldId xmlns:r="http://schemas.openxmlformats.org/officeDocument/2006/relationships" id="267" r:id="R929a202c691f4a6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7253e5929447b5" /><Relationship Type="http://schemas.openxmlformats.org/officeDocument/2006/relationships/slideMaster" Target="/ppt/slideMasters/slideMaster1.xml" Id="R9b21dfe04eb849e2" /><Relationship Type="http://schemas.openxmlformats.org/officeDocument/2006/relationships/notesMaster" Target="/ppt/notesMasters/notesMaster1.xml" Id="Ra02183d0c0ab46a7" /><Relationship Type="http://schemas.openxmlformats.org/officeDocument/2006/relationships/presProps" Target="/ppt/presProps.xml" Id="R48142283121f46ee" /><Relationship Type="http://schemas.openxmlformats.org/officeDocument/2006/relationships/tableStyles" Target="/ppt/tableStyles.xml" Id="R04c72469621d43b5" /><Relationship Type="http://schemas.openxmlformats.org/officeDocument/2006/relationships/slide" Target="/ppt/slides/slide1.xml" Id="R90ba14e468ae43fa" /><Relationship Type="http://schemas.openxmlformats.org/officeDocument/2006/relationships/slide" Target="/ppt/slides/slide2.xml" Id="R3238a29287be4040" /><Relationship Type="http://schemas.openxmlformats.org/officeDocument/2006/relationships/slide" Target="/ppt/slides/slide3.xml" Id="R78bff96929f64c2c" /><Relationship Type="http://schemas.openxmlformats.org/officeDocument/2006/relationships/slide" Target="/ppt/slides/slide4.xml" Id="R81c368d224104317" /><Relationship Type="http://schemas.openxmlformats.org/officeDocument/2006/relationships/slide" Target="/ppt/slides/slide5.xml" Id="Redfe8ea3d66c4bc6" /><Relationship Type="http://schemas.openxmlformats.org/officeDocument/2006/relationships/slide" Target="/ppt/slides/slide6.xml" Id="Rd970ad954fb642b5" /><Relationship Type="http://schemas.openxmlformats.org/officeDocument/2006/relationships/slide" Target="/ppt/slides/slide7.xml" Id="R1bae15c155934bb3" /><Relationship Type="http://schemas.openxmlformats.org/officeDocument/2006/relationships/slide" Target="/ppt/slides/slide8.xml" Id="Re6e3fa8452a942d2" /><Relationship Type="http://schemas.openxmlformats.org/officeDocument/2006/relationships/slide" Target="/ppt/slides/slide9.xml" Id="R60f73fe8e4d044ad" /><Relationship Type="http://schemas.openxmlformats.org/officeDocument/2006/relationships/slide" Target="/ppt/slides/slide10.xml" Id="R3851cb72adce46cf" /><Relationship Type="http://schemas.openxmlformats.org/officeDocument/2006/relationships/slide" Target="/ppt/slides/slide11.xml" Id="R17a994d885594dee" /><Relationship Type="http://schemas.openxmlformats.org/officeDocument/2006/relationships/slide" Target="/ppt/slides/slide12.xml" Id="R929a202c691f4a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5747b5c0ab42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4cd55c85a94747" /><Relationship Type="http://schemas.openxmlformats.org/officeDocument/2006/relationships/notesMaster" Target="/ppt/notesMasters/notesMaster1.xml" Id="R0044fa831af94f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c13d22f64f4be2" /><Relationship Type="http://schemas.openxmlformats.org/officeDocument/2006/relationships/notesMaster" Target="/ppt/notesMasters/notesMaster1.xml" Id="R1e2f5a20b5434e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dd4bf0c8d74c31" /><Relationship Type="http://schemas.openxmlformats.org/officeDocument/2006/relationships/notesMaster" Target="/ppt/notesMasters/notesMaster1.xml" Id="R01ebff0d115b48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7ca45b02584847" /><Relationship Type="http://schemas.openxmlformats.org/officeDocument/2006/relationships/notesMaster" Target="/ppt/notesMasters/notesMaster1.xml" Id="Radea3d0b928643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9a7bde8598401e" /><Relationship Type="http://schemas.openxmlformats.org/officeDocument/2006/relationships/notesMaster" Target="/ppt/notesMasters/notesMaster1.xml" Id="R8d1de6ecec6142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f65794bd2c4635" /><Relationship Type="http://schemas.openxmlformats.org/officeDocument/2006/relationships/notesMaster" Target="/ppt/notesMasters/notesMaster1.xml" Id="R5d31d58f3a5740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37b1e4986f4231" /><Relationship Type="http://schemas.openxmlformats.org/officeDocument/2006/relationships/notesMaster" Target="/ppt/notesMasters/notesMaster1.xml" Id="R84c05a2e762e4f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06ff487cce4b79" /><Relationship Type="http://schemas.openxmlformats.org/officeDocument/2006/relationships/notesMaster" Target="/ppt/notesMasters/notesMaster1.xml" Id="R8e44b6085a4e40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acd0f556f44476" /><Relationship Type="http://schemas.openxmlformats.org/officeDocument/2006/relationships/notesMaster" Target="/ppt/notesMasters/notesMaster1.xml" Id="Reb1f1b26678a4f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046275eb1f4bfb" /><Relationship Type="http://schemas.openxmlformats.org/officeDocument/2006/relationships/notesMaster" Target="/ppt/notesMasters/notesMaster1.xml" Id="R5681bed9ef3d4c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5fa7282ea04bd9" /><Relationship Type="http://schemas.openxmlformats.org/officeDocument/2006/relationships/notesMaster" Target="/ppt/notesMasters/notesMaster1.xml" Id="R99d0e807a4f745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7747feeb10481c" /><Relationship Type="http://schemas.openxmlformats.org/officeDocument/2006/relationships/notesMaster" Target="/ppt/notesMasters/notesMaster1.xml" Id="R6bab4b9549044d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fe6a791a84b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cb779f1a08416b" /><Relationship Type="http://schemas.openxmlformats.org/officeDocument/2006/relationships/slideLayout" Target="/ppt/slideLayouts/slideLayout1.xml" Id="R2a68cc25291047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68cc25291047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61b5522fd446a" /><Relationship Type="http://schemas.openxmlformats.org/officeDocument/2006/relationships/notesSlide" Target="/ppt/notesSlides/notesSlide1.xml" Id="R7673d65a595644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478ed5ba44784" /><Relationship Type="http://schemas.openxmlformats.org/officeDocument/2006/relationships/notesSlide" Target="/ppt/notesSlides/notesSlide2.xml" Id="R0fb148bfdfc349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208d3a1d54584" /><Relationship Type="http://schemas.openxmlformats.org/officeDocument/2006/relationships/image" Target="/ppt/media/image.png" Id="R6d72c2a39eeb4a4a" /><Relationship Type="http://schemas.openxmlformats.org/officeDocument/2006/relationships/notesSlide" Target="/ppt/notesSlides/notesSlide3.xml" Id="R83130f512bb246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4308a5b2b40e0" /><Relationship Type="http://schemas.openxmlformats.org/officeDocument/2006/relationships/notesSlide" Target="/ppt/notesSlides/notesSlide4.xml" Id="Ra0787d7e316e48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0f64958a34cf6" /><Relationship Type="http://schemas.openxmlformats.org/officeDocument/2006/relationships/notesSlide" Target="/ppt/notesSlides/notesSlide5.xml" Id="R39defda7e44e43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4fd0afd6e4986" /><Relationship Type="http://schemas.openxmlformats.org/officeDocument/2006/relationships/image" Target="/ppt/media/image2.png" Id="R379b94fee7b84944" /><Relationship Type="http://schemas.openxmlformats.org/officeDocument/2006/relationships/notesSlide" Target="/ppt/notesSlides/notesSlide6.xml" Id="R1ddebe3cefed45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f3c9f3aad46b8" /><Relationship Type="http://schemas.openxmlformats.org/officeDocument/2006/relationships/notesSlide" Target="/ppt/notesSlides/notesSlide7.xml" Id="Rf431bad1cf7a4e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719b441a94c20" /><Relationship Type="http://schemas.openxmlformats.org/officeDocument/2006/relationships/notesSlide" Target="/ppt/notesSlides/notesSlide8.xml" Id="Rc763332859264d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929b859a54e89" /><Relationship Type="http://schemas.openxmlformats.org/officeDocument/2006/relationships/notesSlide" Target="/ppt/notesSlides/notesSlide9.xml" Id="R9c54303bda344b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4899c4fad47b6" /><Relationship Type="http://schemas.openxmlformats.org/officeDocument/2006/relationships/notesSlide" Target="/ppt/notesSlides/notesSlide10.xml" Id="R319fe16a7ad042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4985230e34866" /><Relationship Type="http://schemas.openxmlformats.org/officeDocument/2006/relationships/notesSlide" Target="/ppt/notesSlides/notesSlide11.xml" Id="Re2167a444dc946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d3b8156e54a0d" /><Relationship Type="http://schemas.openxmlformats.org/officeDocument/2006/relationships/notesSlide" Target="/ppt/notesSlides/notesSlide12.xml" Id="R1e26b1d3c5a848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A64306-A08F-45AD-804D-F26F549D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690FF-DE8F-4E2E-A5D9-28A26D07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LONGAGENT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45A4D-F26F-4F7B-97B2-FA217299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CE5F5"/>
                </a:solidFill>
              </a:defRPr>
            </a:pPr>
            <a:r>
              <a:rPr sz="2250" b="1">
                <a:solidFill>
                  <a:srgbClr val="DCE5F5"/>
                </a:solidFill>
              </a:rPr>
              <a:t>用多智能体协作回答 128k-token 长文档问题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10378-3ED3-40CA-885E-F70F37DB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0C9"/>
                </a:solidFill>
              </a:defRPr>
            </a:pPr>
            <a:r>
              <a:rPr sz="1575" b="0">
                <a:solidFill>
                  <a:srgbClr val="9FB0C9"/>
                </a:solidFill>
              </a:rPr>
              <a:t>论文解读：写作逻辑 × 方法设计 × 实验证据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29642-59C0-49BB-9366-41420C99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90600"/>
            <a:ext cx="2667000" cy="4095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E2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CF8D1-1ECB-4B05-B6CA-6F939F8D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3C969"/>
                </a:solidFill>
              </a:defRPr>
            </a:pPr>
            <a:r>
              <a:rPr sz="4050" b="1">
                <a:solidFill>
                  <a:srgbClr val="F3C969"/>
                </a:solidFill>
              </a:rPr>
              <a:t>4k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49E9A-29E6-4792-8B79-A3AEB66D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成员模型上下文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E5C1E-B7CB-4799-A74F-E7DE04E6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035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4AE3B-2573-4855-9414-4F58915B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EF5B5B"/>
                </a:solidFill>
              </a:defRPr>
            </a:pPr>
            <a:r>
              <a:rPr sz="4050" b="1">
                <a:solidFill>
                  <a:srgbClr val="EF5B5B"/>
                </a:solidFill>
              </a:rPr>
              <a:t>128k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DDAF2-E6EC-41FD-A2DF-6F4B9BC7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48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系统处理长度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315D6-A3A4-4685-9A2F-E161D46C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436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9"/>
                </a:solidFill>
              </a:defRPr>
            </a:pPr>
            <a:r>
              <a:rPr sz="1200" b="0">
                <a:solidFill>
                  <a:srgbClr val="9FB0C9"/>
                </a:solidFill>
              </a:rPr>
              <a:t>Zhao et al. · EMNLP 2024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22324-41BC-4C05-9E39-E55A0775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A"/>
                </a:solidFill>
              </a:defRPr>
            </a:pPr>
            <a:r>
              <a:rPr sz="825" b="0">
                <a:solidFill>
                  <a:srgbClr val="60708A"/>
                </a:solidFill>
              </a:rPr>
              <a:t>Zhao et al.,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3D5E8-BEDF-48B1-8E28-6405A0DE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A"/>
                </a:solidFill>
              </a:defRPr>
            </a:pPr>
            <a:r>
              <a:rPr sz="900" b="1">
                <a:solidFill>
                  <a:srgbClr val="60708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376320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F91B11-EB7A-41B6-8B57-2628305B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5B5B"/>
                </a:solidFill>
              </a:defRPr>
            </a:pPr>
            <a:r>
              <a:rPr sz="1050" b="1">
                <a:solidFill>
                  <a:srgbClr val="EF5B5B"/>
                </a:solidFill>
              </a:rPr>
              <a:t>LONGAGENT · EMNLP 2024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58480-BA22-4156-83E4-8CC6E631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核心问题不是“装得下”，而是“找得准、推得对”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28CCD-C312-4A27-8217-AD446936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3D16C-A14B-4311-ACD6-6E3239EF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08A"/>
                </a:solidFill>
              </a:defRPr>
            </a:pPr>
            <a:r>
              <a:rPr sz="1650" b="0">
                <a:solidFill>
                  <a:srgbClr val="60708A"/>
                </a:solidFill>
              </a:rPr>
              <a:t>长上下文 QA 同时遭遇三类瓶颈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79C81-BF70-4FF4-8191-19F27A82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3147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0D9C3-2D2E-4753-836D-F0503A65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F5B5B"/>
                </a:solidFill>
              </a:defRPr>
            </a:pPr>
            <a:r>
              <a:rPr sz="2250" b="1">
                <a:solidFill>
                  <a:srgbClr val="EF5B5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6CD0B-AACE-419E-A024-2D59D030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资源成本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B4F3B-7E18-4E0A-9025-14C8A363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809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A"/>
                </a:solidFill>
              </a:defRPr>
            </a:pPr>
            <a:r>
              <a:rPr sz="1425" b="0">
                <a:solidFill>
                  <a:srgbClr val="60708A"/>
                </a:solidFill>
              </a:rPr>
              <a:t>把 128k 全塞进模型，计算与显存昂贵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3C77C-796C-44E2-A5A2-8232E852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33147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96FC8-B411-4D59-90FC-5CFC194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955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7DFF"/>
                </a:solidFill>
              </a:defRPr>
            </a:pPr>
            <a:r>
              <a:rPr sz="2250" b="1">
                <a:solidFill>
                  <a:srgbClr val="377D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0C013-F56B-40CF-AA00-8B8C85B4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位置失真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C1EAD-7070-488E-8DDD-EE37188E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2809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A"/>
                </a:solidFill>
              </a:defRPr>
            </a:pPr>
            <a:r>
              <a:rPr sz="1425" b="0">
                <a:solidFill>
                  <a:srgbClr val="60708A"/>
                </a:solidFill>
              </a:rPr>
              <a:t>关键信息在中部时容易被忽略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E9920-6A9B-4F2C-8CD7-05E737DE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33147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7EDF2-04D2-4670-89D5-0BBAB41F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955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AB7A9"/>
                </a:solidFill>
              </a:defRPr>
            </a:pPr>
            <a:r>
              <a:rPr sz="2250" b="1">
                <a:solidFill>
                  <a:srgbClr val="2AB7A9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51E07-4D3B-491A-9A4C-07418012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推理链断裂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1127C-C295-48A3-AFDF-B1A23148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76650"/>
            <a:ext cx="2809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A"/>
                </a:solidFill>
              </a:defRPr>
            </a:pPr>
            <a:r>
              <a:rPr sz="1425" b="0">
                <a:solidFill>
                  <a:srgbClr val="60708A"/>
                </a:solidFill>
              </a:rPr>
              <a:t>多跳证据散落在不同片段，单次读取难串联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2B5359-2DB5-4763-9121-BD156133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作者的转向：不继续拉伸一个模型，而是重构“谁读、谁问、谁裁决”。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62829-FAD4-472F-BA16-4BC3FABD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A"/>
                </a:solidFill>
              </a:defRPr>
            </a:pPr>
            <a:r>
              <a:rPr sz="825" b="0">
                <a:solidFill>
                  <a:srgbClr val="60708A"/>
                </a:solidFill>
              </a:rPr>
              <a:t>Zhao et al., 2024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50C70-FA3A-42E2-915A-A1C9538C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A"/>
                </a:solidFill>
              </a:defRPr>
            </a:pPr>
            <a:r>
              <a:rPr sz="900" b="1">
                <a:solidFill>
                  <a:srgbClr val="60708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23094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725997-80D2-4501-859D-96FC71D9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5B5B"/>
                </a:solidFill>
              </a:defRPr>
            </a:pPr>
            <a:r>
              <a:rPr sz="1050" b="1">
                <a:solidFill>
                  <a:srgbClr val="EF5B5B"/>
                </a:solidFill>
              </a:rPr>
              <a:t>LONGAGENT · EMNLP 2024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41F58-EB0F-4E74-B243-7B7C7801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一句话看懂 LONGAGENT：切分、并行阅读、集中推理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EBFC2-4FC9-4387-BD7A-B81B1B5D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2c2a39eeb4a4a"/>
          <a:stretch xmlns:a="http://schemas.openxmlformats.org/drawingml/2006/main"/>
        </p:blipFill>
        <p:spPr>
          <a:xfrm xmlns:a="http://schemas.openxmlformats.org/drawingml/2006/main">
            <a:off x="1604637" y="1771650"/>
            <a:ext cx="2962925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6F42D-ADAD-483F-910D-F25057BC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5334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1518A-032C-44A1-9423-87ED29F3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12573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B421C-FB7D-4631-86EE-B342F39F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DIVIDE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DB1DA-A9EA-4EC2-A477-D4B6D97D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文档按固定长度切成 m 个 chunk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435D7-03A1-4C8A-906A-2BEEC18D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1428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7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D5E80-7D97-47D5-BF74-0CC28E39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DISTRIBUTE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2329C-14C4-4770-9103-571D6EC0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每个成员只读取一个局部片段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4E773-DCF9-4C3E-9379-15F6273D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14859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AB7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7F60B-4AE8-421A-98AB-C374128D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958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DELIBERATE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78EAD-D58A-4365-9DF8-5C2079E4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领导者多轮发问、消解冲突并作答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ABEBB-86B7-47AE-B246-A2FFA3FE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A"/>
                </a:solidFill>
              </a:defRPr>
            </a:pPr>
            <a:r>
              <a:rPr sz="825" b="0">
                <a:solidFill>
                  <a:srgbClr val="60708A"/>
                </a:solidFill>
              </a:rPr>
              <a:t>论文 Figure 1（第 1 页）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5790A-7B2D-417C-8B4C-FA55B0E0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A"/>
                </a:solidFill>
              </a:defRPr>
            </a:pPr>
            <a:r>
              <a:rPr sz="900" b="1">
                <a:solidFill>
                  <a:srgbClr val="60708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15293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D9ACD3-02B8-4EAC-BF68-DF443295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5B5B"/>
                </a:solidFill>
              </a:defRPr>
            </a:pPr>
            <a:r>
              <a:rPr sz="1050" b="1">
                <a:solidFill>
                  <a:srgbClr val="EF5B5B"/>
                </a:solidFill>
              </a:rPr>
              <a:t>LONGAGENT · EMNLP 2024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B7EAA-13F1-41D2-9F95-082D92FF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系统角色被刻意做成“不对称”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0C6DD-F07D-4358-B566-AD9FA67A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47B9F-AF2D-42A1-93C2-52F0FC66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F5B5B"/>
                </a:solidFill>
              </a:defRPr>
            </a:pPr>
            <a:r>
              <a:rPr sz="2175" b="1">
                <a:solidFill>
                  <a:srgbClr val="EF5B5B"/>
                </a:solidFill>
              </a:rPr>
              <a:t>Leader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A1E04-48A2-4971-8DDA-2C6C8947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3733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理解问题 → 生成指令 → 判断证据是否充分 → 输出答案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9B101-8297-4B4B-AC15-844370A9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76450"/>
            <a:ext cx="285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244C0-1B47-48BB-A9A3-DCCD4E94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812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7DFF"/>
                </a:solidFill>
              </a:defRPr>
            </a:pPr>
            <a:r>
              <a:rPr sz="2175" b="1">
                <a:solidFill>
                  <a:srgbClr val="377DFF"/>
                </a:solidFill>
              </a:rPr>
              <a:t>Members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8267E-3EF2-4DBD-A804-FE140A78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09850"/>
            <a:ext cx="4533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各自阅读一个不重叠 chunk，只返回与当前指令相关的线索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2521A-0BED-4484-843A-32DDAD81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9525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7B746-036D-4205-B19C-9CC852F9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5B5B"/>
                </a:solidFill>
              </a:defRPr>
            </a:pPr>
            <a:r>
              <a:rPr sz="1350" b="1">
                <a:solidFill>
                  <a:srgbClr val="EF5B5B"/>
                </a:solidFill>
              </a:rPr>
              <a:t>设计含义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56467-1619-480F-80EA-C156D044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891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局部阅读负责“召回”，全局领导负责“规划与综合”；能力来自流程组织，而非扩大单模型窗口。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76072-46CA-41C1-8C05-3D73CA6C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A"/>
                </a:solidFill>
              </a:defRPr>
            </a:pPr>
            <a:r>
              <a:rPr sz="825" b="0">
                <a:solidFill>
                  <a:srgbClr val="60708A"/>
                </a:solidFill>
              </a:rPr>
              <a:t>Zhao et al.,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ED202-5204-40AE-A912-93A5A26C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A"/>
                </a:solidFill>
              </a:defRPr>
            </a:pPr>
            <a:r>
              <a:rPr sz="900" b="1">
                <a:solidFill>
                  <a:srgbClr val="60708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138509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530BE-6050-4107-8FD8-70BB291C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5B5B"/>
                </a:solidFill>
              </a:defRPr>
            </a:pPr>
            <a:r>
              <a:rPr sz="1050" b="1">
                <a:solidFill>
                  <a:srgbClr val="EF5B5B"/>
                </a:solidFill>
              </a:rPr>
              <a:t>LONGAGENT · EMNLP 2024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38A2E-A5E7-488D-B1BC-960035B4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领导者用三个动作控制整个推理循环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A87B8-77AF-40B9-B2E5-2AA86188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51034-5C38-46C5-8D8D-0AE9305E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3143250" cy="31813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1F9EB-A4EE-4EEF-B96D-1684C312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7DFF"/>
                </a:solidFill>
              </a:defRPr>
            </a:pPr>
            <a:r>
              <a:rPr sz="2100" b="1">
                <a:solidFill>
                  <a:srgbClr val="377DFF"/>
                </a:solidFill>
              </a:rPr>
              <a:t>QUERY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92599-9C58-4A0C-928E-D0CA530F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0708A"/>
                </a:solidFill>
              </a:defRPr>
            </a:pPr>
            <a:r>
              <a:rPr sz="1425" b="1">
                <a:solidFill>
                  <a:srgbClr val="60708A"/>
                </a:solidFill>
              </a:rPr>
              <a:t>证据不足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371B7-380F-48A0-99F6-1CBABEFC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把复杂问题拆成下一条最简单的检索指令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177A0-4DCD-4496-A7EA-9158E00B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57400"/>
            <a:ext cx="3143250" cy="31813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01F4-BCDA-40C1-9FBB-1033FD10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050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5B5B"/>
                </a:solidFill>
              </a:defRPr>
            </a:pPr>
            <a:r>
              <a:rPr sz="2100" b="1">
                <a:solidFill>
                  <a:srgbClr val="EF5B5B"/>
                </a:solidFill>
              </a:rPr>
              <a:t>CONFLICT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486E7-930F-4C87-9007-A8C0189B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56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0708A"/>
                </a:solidFill>
              </a:defRPr>
            </a:pPr>
            <a:r>
              <a:rPr sz="1425" b="1">
                <a:solidFill>
                  <a:srgbClr val="60708A"/>
                </a:solidFill>
              </a:rPr>
              <a:t>答案冲突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71AEF-E8A6-46D6-B7BF-8A7E1C2F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290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让冲突成员交换文本片段后重新回答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0F14A-B49A-4401-96FA-BDC07AD1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57400"/>
            <a:ext cx="3143250" cy="31813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8B456-E3D7-430B-A94C-1965FD76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050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B7A9"/>
                </a:solidFill>
              </a:defRPr>
            </a:pPr>
            <a:r>
              <a:rPr sz="2100" b="1">
                <a:solidFill>
                  <a:srgbClr val="2AB7A9"/>
                </a:solidFill>
              </a:rPr>
              <a:t>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3660B-0FBF-4D33-B71D-3150E029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956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0708A"/>
                </a:solidFill>
              </a:defRPr>
            </a:pPr>
            <a:r>
              <a:rPr sz="1425" b="1">
                <a:solidFill>
                  <a:srgbClr val="60708A"/>
                </a:solidFill>
              </a:rPr>
              <a:t>证据充分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CFE21-25D9-4C18-9EB8-11F04C78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290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基于累积交互历史生成最终答案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BDEE5-281B-4931-8C73-DDAFB845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004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34F379-F349-42BC-A15D-C7886099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19692-240F-41D5-A342-EE58F580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022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停止条件不是固定轮数，而是 Leader 判断历史信息足够。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1D665-D903-4E21-9D61-BD43207E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A"/>
                </a:solidFill>
              </a:defRPr>
            </a:pPr>
            <a:r>
              <a:rPr sz="825" b="0">
                <a:solidFill>
                  <a:srgbClr val="60708A"/>
                </a:solidFill>
              </a:rPr>
              <a:t>论文 §2.2–2.4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A9D9C-5590-498D-B6C7-E479BBD8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A"/>
                </a:solidFill>
              </a:defRPr>
            </a:pPr>
            <a:r>
              <a:rPr sz="900" b="1">
                <a:solidFill>
                  <a:srgbClr val="60708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18386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246890-A2F2-407C-8E3D-A2E8900B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5B5B"/>
                </a:solidFill>
              </a:defRPr>
            </a:pPr>
            <a:r>
              <a:rPr sz="1050" b="1">
                <a:solidFill>
                  <a:srgbClr val="EF5B5B"/>
                </a:solidFill>
              </a:rPr>
              <a:t>LONGAGENT · EMNLP 2024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06A8A-FAF4-4E6C-A0C0-21B62161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多跳问答靠“动态分解”，不是一次性检索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67027-AA2A-469C-91CE-A07A7ED0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b94fee7b84944"/>
          <a:stretch xmlns:a="http://schemas.openxmlformats.org/drawingml/2006/main"/>
        </p:blipFill>
        <p:spPr>
          <a:xfrm xmlns:a="http://schemas.openxmlformats.org/drawingml/2006/main">
            <a:off x="7598078" y="1762125"/>
            <a:ext cx="2996595" cy="4238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5CBED-516B-45A1-9194-986DDA5E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5B5B"/>
                </a:solidFill>
              </a:defRPr>
            </a:pPr>
            <a:r>
              <a:rPr sz="1800" b="1">
                <a:solidFill>
                  <a:srgbClr val="EF5B5B"/>
                </a:solidFill>
              </a:rPr>
              <a:t>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ACB7F-B3A0-45B4-978D-6EED9AFE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708A"/>
                </a:solidFill>
              </a:defRPr>
            </a:pPr>
            <a:r>
              <a:rPr sz="1350" b="1">
                <a:solidFill>
                  <a:srgbClr val="60708A"/>
                </a:solidFill>
              </a:rPr>
              <a:t>先问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20F08-90CA-4B24-95C1-269F9253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05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谁获得 2015 Diamond Head Classic MVP？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81FDE-9684-4472-8F6E-982F0509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7E594-031B-489E-9EA8-BD686638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77DFF"/>
                </a:solidFill>
              </a:defRPr>
            </a:pPr>
            <a:r>
              <a:rPr sz="1800" b="1">
                <a:solidFill>
                  <a:srgbClr val="377DFF"/>
                </a:solidFill>
              </a:rPr>
              <a:t>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CA416-138E-4375-980B-E9B9A818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708A"/>
                </a:solidFill>
              </a:defRPr>
            </a:pPr>
            <a:r>
              <a:rPr sz="1350" b="1">
                <a:solidFill>
                  <a:srgbClr val="60708A"/>
                </a:solidFill>
              </a:rPr>
              <a:t>得到线索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954D1-EBCB-45E0-8D46-0CDD8BB9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384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Buddy Hield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EAE7A-B9B5-4731-B73D-FB01DFE7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6232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95DD6-8670-48BA-8E6B-953272FE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B7A9"/>
                </a:solidFill>
              </a:defRPr>
            </a:pPr>
            <a:r>
              <a:rPr sz="1800" b="1">
                <a:solidFill>
                  <a:srgbClr val="2AB7A9"/>
                </a:solidFill>
              </a:rPr>
              <a:t>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CFA47-72E6-47F5-9C65-301F3777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708A"/>
                </a:solidFill>
              </a:defRPr>
            </a:pPr>
            <a:r>
              <a:rPr sz="1350" b="1">
                <a:solidFill>
                  <a:srgbClr val="60708A"/>
                </a:solidFill>
              </a:rPr>
              <a:t>再问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7447B-5E81-46F6-8E89-05632641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719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Buddy Hield 效力于哪支球队？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B72AE-4845-420C-A311-D0D9D6C6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9577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36C6F-0807-4C2F-A7DF-0899F673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C969"/>
                </a:solidFill>
              </a:defRPr>
            </a:pPr>
            <a:r>
              <a:rPr sz="1800" b="1">
                <a:solidFill>
                  <a:srgbClr val="F3C969"/>
                </a:solidFill>
              </a:rPr>
              <a:t>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32727-1B93-4514-90B2-37D869BD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053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708A"/>
                </a:solidFill>
              </a:defRPr>
            </a:pPr>
            <a:r>
              <a:rPr sz="1350" b="1">
                <a:solidFill>
                  <a:srgbClr val="60708A"/>
                </a:solidFill>
              </a:rPr>
              <a:t>综合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985C7-524F-461E-93B8-A05EFBBB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053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Sacramento Kings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23C7D6-ADFF-4439-ACAC-922FD124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A"/>
                </a:solidFill>
              </a:defRPr>
            </a:pPr>
            <a:r>
              <a:rPr sz="825" b="0">
                <a:solidFill>
                  <a:srgbClr val="60708A"/>
                </a:solidFill>
              </a:rPr>
              <a:t>论文 Figure 2（第 3 页）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AED8D-06EB-4941-8514-462A8562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A"/>
                </a:solidFill>
              </a:defRPr>
            </a:pPr>
            <a:r>
              <a:rPr sz="900" b="1">
                <a:solidFill>
                  <a:srgbClr val="60708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99798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6AEF04-5737-4CC3-8625-3DBF0915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5B5B"/>
                </a:solidFill>
              </a:defRPr>
            </a:pPr>
            <a:r>
              <a:rPr sz="1050" b="1">
                <a:solidFill>
                  <a:srgbClr val="EF5B5B"/>
                </a:solidFill>
              </a:rPr>
              <a:t>LONGAGENT · EMNLP 2024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09E84-D1AF-459F-9795-6DF17D2D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最有辨识度的机制：用“共享原文”修正幻觉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ECA78-744F-48B5-ABEE-279E4740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FE418-BFBB-4F9D-8FA4-C10513AA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F5B5B"/>
                </a:solidFill>
              </a:defRPr>
            </a:pPr>
            <a:r>
              <a:rPr sz="1875" b="1">
                <a:solidFill>
                  <a:srgbClr val="EF5B5B"/>
                </a:solidFill>
              </a:rPr>
              <a:t>观察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6966F-CCB3-49D4-BC32-3FC673A0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无答案片段更容易诱发成员编造；真正含答案的片段通常更可靠。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CA745-6503-4059-84CD-522D67B6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7DFF"/>
                </a:solidFill>
              </a:defRPr>
            </a:pPr>
            <a:r>
              <a:rPr sz="1875" b="1">
                <a:solidFill>
                  <a:srgbClr val="377DFF"/>
                </a:solidFill>
              </a:rPr>
              <a:t>操作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E2AC0-3724-4D67-92BD-D5BE03FD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当两个成员冲突时，把双方 chunk 拼接并互换，再要求两者重新回答。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63405-6116-4D12-BC68-EC849F0F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72050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D66C0-D575-4679-87EE-3A1569A1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28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77DFF"/>
                </a:solidFill>
              </a:defRPr>
            </a:pPr>
            <a:r>
              <a:rPr sz="1500" b="1">
                <a:solidFill>
                  <a:srgbClr val="377DFF"/>
                </a:solidFill>
              </a:rPr>
              <a:t>Member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31A4F-B97F-461D-8EBC-15793D5F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“Buddy Hield”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F67AC-0C38-47AE-8A55-0255F306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5B5B"/>
                </a:solidFill>
              </a:defRPr>
            </a:pPr>
            <a:r>
              <a:rPr sz="1500" b="1">
                <a:solidFill>
                  <a:srgbClr val="EF5B5B"/>
                </a:solidFill>
              </a:rPr>
              <a:t>Member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6D239-ED58-4456-BA6F-AE698EA3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“Mark Gibson”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FE4A9-72FA-4F30-8316-EB3D06B1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480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34143-62F2-4CF8-AC5A-5ED9DF12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004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0708A"/>
                </a:solidFill>
              </a:defRPr>
            </a:pPr>
            <a:r>
              <a:rPr sz="1350" b="1">
                <a:solidFill>
                  <a:srgbClr val="60708A"/>
                </a:solidFill>
              </a:rPr>
              <a:t>交换 chunk 后重答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0FDE4-8B9C-44B4-B53F-B2D359A6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005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AB7A9"/>
                </a:solidFill>
              </a:defRPr>
            </a:pPr>
            <a:r>
              <a:rPr sz="1725" b="1">
                <a:solidFill>
                  <a:srgbClr val="2AB7A9"/>
                </a:solidFill>
              </a:rPr>
              <a:t>趋向一致：Buddy Hield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D4EEAC-FD36-4ABA-8B18-FEBD8FA2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值得注意：它依赖一个经验假设，并非形式化保证。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9E5A13-0DA6-4566-B90F-C5BEEA06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A"/>
                </a:solidFill>
              </a:defRPr>
            </a:pPr>
            <a:r>
              <a:rPr sz="825" b="0">
                <a:solidFill>
                  <a:srgbClr val="60708A"/>
                </a:solidFill>
              </a:rPr>
              <a:t>论文 §2.3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74F5F-BF5E-4DD5-B166-6D3F99A1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A"/>
                </a:solidFill>
              </a:defRPr>
            </a:pPr>
            <a:r>
              <a:rPr sz="900" b="1">
                <a:solidFill>
                  <a:srgbClr val="60708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28415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62EB0E-92B0-4E74-B07C-9F4A52F3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5B5B"/>
                </a:solidFill>
              </a:defRPr>
            </a:pPr>
            <a:r>
              <a:rPr sz="1050" b="1">
                <a:solidFill>
                  <a:srgbClr val="EF5B5B"/>
                </a:solidFill>
              </a:rPr>
              <a:t>LONGAGENT · EMNLP 2024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7989F-B50C-41EC-94FB-B1326232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评测设计把“找针”升级成“串联多根针”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B6383-E4C0-455F-B468-70923675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A8190-1160-406D-8404-573AE189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Needle-in-a-Haystack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627CB-36D8-44A3-A6EC-E613C36E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08A"/>
                </a:solidFill>
              </a:defRPr>
            </a:pPr>
            <a:r>
              <a:rPr sz="1500" b="0">
                <a:solidFill>
                  <a:srgbClr val="60708A"/>
                </a:solidFill>
              </a:rPr>
              <a:t>单根 needle 测试能否在不同长度与位置找到事实。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C6A6F-CEC5-4FFA-929C-F83CF0EA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62150"/>
            <a:ext cx="285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508A8-962D-4648-8C68-AC2FE5BE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621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F5B5B"/>
                </a:solidFill>
              </a:defRPr>
            </a:pPr>
            <a:r>
              <a:rPr sz="1950" b="1">
                <a:solidFill>
                  <a:srgbClr val="EF5B5B"/>
                </a:solidFill>
              </a:rPr>
              <a:t>Needle-in-a-Haystack PLUS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BE4F2-EF02-4075-A09F-60DF90C9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多根 needle 分布在文档不同位置；问题要求跨片段组合证据，覆盖 multi-hop QA。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EB768-8608-49D9-AC78-D5721177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07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0E1DD-BFF6-4AF5-A09F-86D758AB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77DFF"/>
                </a:solidFill>
              </a:defRPr>
            </a:pPr>
            <a:r>
              <a:rPr sz="1350" b="1">
                <a:solidFill>
                  <a:srgbClr val="377DFF"/>
                </a:solidFill>
              </a:rPr>
              <a:t>实验逻辑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33221-E524-406B-B67F-765F3E39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同时改变文档长度 L、needle 深度位置与单/多跳设置，观察性能是否随长度或位置崩塌。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1B1DE-812D-4517-A1E5-74A84455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07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再补充 LongBench 与 InfiniteBench，检验自然长文档任务上的可迁移性。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8D9BC-B924-4A88-8699-4C674BA3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A"/>
                </a:solidFill>
              </a:defRPr>
            </a:pPr>
            <a:r>
              <a:rPr sz="825" b="0">
                <a:solidFill>
                  <a:srgbClr val="60708A"/>
                </a:solidFill>
              </a:rPr>
              <a:t>论文 §3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C5E2A-E716-4A58-A17F-ABE8EE68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A"/>
                </a:solidFill>
              </a:defRPr>
            </a:pPr>
            <a:r>
              <a:rPr sz="900" b="1">
                <a:solidFill>
                  <a:srgbClr val="60708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959413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18AD6C-00D2-45A8-AEB0-B0B84104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5B5B"/>
                </a:solidFill>
              </a:defRPr>
            </a:pPr>
            <a:r>
              <a:rPr sz="1050" b="1">
                <a:solidFill>
                  <a:srgbClr val="EF5B5B"/>
                </a:solidFill>
              </a:rPr>
              <a:t>LONGAGENT · EMNLP 2024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73F2E-84F1-4B42-8ECE-E46ED6F3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结果主张很强：7B 系统在超长 QA 上可超过 GPT-4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0F0D4-7347-4A95-86BE-B3313D3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D5BFF-E712-4360-A063-B679C793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1435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21306-E97F-4A99-85DD-0F90EF0C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F5B5B"/>
                </a:solidFill>
              </a:defRPr>
            </a:pPr>
            <a:r>
              <a:rPr sz="3900" b="1">
                <a:solidFill>
                  <a:srgbClr val="EF5B5B"/>
                </a:solidFill>
              </a:rPr>
              <a:t>+16.42%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91D31-31E0-42AF-80CC-4A3A1221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单跳 QA 相对 GPT-4 的准确率增益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179DF-8A9D-4B82-B1F8-4301E2C6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84E2E-B779-471B-B852-36B5F2F8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3C969"/>
                </a:solidFill>
              </a:defRPr>
            </a:pPr>
            <a:r>
              <a:rPr sz="3300" b="1">
                <a:solidFill>
                  <a:srgbClr val="F3C969"/>
                </a:solidFill>
              </a:rPr>
              <a:t>+1.63%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F115B-9E93-4D68-8FA4-94A9A02B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5F5"/>
                </a:solidFill>
              </a:defRPr>
            </a:pPr>
            <a:r>
              <a:rPr sz="1350" b="0">
                <a:solidFill>
                  <a:srgbClr val="DCE5F5"/>
                </a:solidFill>
              </a:rPr>
              <a:t>多跳 QA 相对 GPT-4 的准确率增益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9BA0F-F6F7-42A3-9002-3A376ED6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85950"/>
            <a:ext cx="512445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083FA-C584-4182-9A82-AEC75FCF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77DFF"/>
                </a:solidFill>
              </a:defRPr>
            </a:pPr>
            <a:r>
              <a:rPr sz="1800" b="1">
                <a:solidFill>
                  <a:srgbClr val="377DFF"/>
                </a:solidFill>
              </a:rPr>
              <a:t>如何解释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76099-1A57-4842-A01E-D29FA5B4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423862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优势来自并行覆盖与显式多轮规划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冲突修正降低局部幻觉的破坏性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结论针对论文评测，不等于普遍优于 GPT-4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7ACD2-7322-4203-8384-BB76CAE3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48200"/>
            <a:ext cx="4238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F5B5B"/>
                </a:solidFill>
              </a:defRPr>
            </a:pPr>
            <a:r>
              <a:rPr sz="1425" b="1">
                <a:solidFill>
                  <a:srgbClr val="EF5B5B"/>
                </a:solidFill>
              </a:rPr>
              <a:t>证据边界：成本、延迟与成员规模的系统性比较仍不充分。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204DD-A418-47CA-8401-553C743E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A"/>
                </a:solidFill>
              </a:defRPr>
            </a:pPr>
            <a:r>
              <a:rPr sz="825" b="0">
                <a:solidFill>
                  <a:srgbClr val="60708A"/>
                </a:solidFill>
              </a:rPr>
              <a:t>论文摘要与实验章节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820DE-7E5E-49C8-8469-20F63237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A"/>
                </a:solidFill>
              </a:defRPr>
            </a:pPr>
            <a:r>
              <a:rPr sz="900" b="1">
                <a:solidFill>
                  <a:srgbClr val="60708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565125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595124-EFFD-4B2D-AEF8-3526EFDF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5B5B"/>
                </a:solidFill>
              </a:defRPr>
            </a:pPr>
            <a:r>
              <a:rPr sz="1050" b="1">
                <a:solidFill>
                  <a:srgbClr val="EF5B5B"/>
                </a:solidFill>
              </a:rPr>
              <a:t>LONGAGENT · EMNLP 2024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FA60D-7335-4C2E-A264-2E9F0E65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方法贡献与局限，最好成对阅读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11DF8-DBE2-4018-81CB-26C4040D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430AC-1B40-4568-8586-78C32C98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AB7A9"/>
                </a:solidFill>
              </a:defRPr>
            </a:pPr>
            <a:r>
              <a:rPr sz="1725" b="1">
                <a:solidFill>
                  <a:srgbClr val="2AB7A9"/>
                </a:solidFill>
              </a:rPr>
              <a:t>贡献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2CB8A-6B95-4D28-AA15-95FADF09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F5B5B"/>
                </a:solidFill>
              </a:defRPr>
            </a:pPr>
            <a:r>
              <a:rPr sz="1725" b="1">
                <a:solidFill>
                  <a:srgbClr val="EF5B5B"/>
                </a:solidFill>
              </a:rPr>
              <a:t>局限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D7501-EA84-4FB8-91B3-9D399D63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5817A-FA74-434D-AD33-6CBD708B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可扩展性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F11D0-D60C-4278-85A9-90877EC2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003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用更多成员覆盖更长输入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3437F-4B36-45D7-B56C-53EDBF54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成员数随文档长度增长，通信与推理成本上升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66E51-0F65-4ACC-BBE1-3528EE9E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7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0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9F8B2-2AAF-4C19-ADB3-E204BE01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多跳能力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8DD7E-2739-41FD-A8AF-3CD467B4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147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Leader 动态拆解子问题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1993F-F180-457E-9217-826F74DC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错误线索可能跨轮累积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FC4F0-A5FD-46A9-AD1D-6A9DEA02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0FD1C-EED9-4624-9E30-B326CC73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幻觉治理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B0000-941B-4775-9E52-0488AC0C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291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冲突时共享原文复核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DFCC4-5EA3-49D5-9C91-BE8A28F3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291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只处理“显性冲突”，一致性幻觉仍可能漏过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B070B-32AC-4D8F-B2B2-0A4EB052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0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3E79DA-AC5C-46F0-B631-971D1BDD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工程门槛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AF9D5-6306-4159-8174-C1309DEA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435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无需训练长上下文模型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B43DC-73DD-4F1E-BAFD-579238F4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435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需要稳定调度、多轮提示和并发资源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EC136-558B-42A8-B4B9-6879FB99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A"/>
                </a:solidFill>
              </a:defRPr>
            </a:pPr>
            <a:r>
              <a:rPr sz="825" b="0">
                <a:solidFill>
                  <a:srgbClr val="60708A"/>
                </a:solidFill>
              </a:rPr>
              <a:t>基于论文方法与实验的批判性解读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12F6B-EFF3-4266-8C3F-77048498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A"/>
                </a:solidFill>
              </a:defRPr>
            </a:pPr>
            <a:r>
              <a:rPr sz="900" b="1">
                <a:solidFill>
                  <a:srgbClr val="60708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975955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79C5E4-A25B-4BA0-A40F-6C20D414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5B5B"/>
                </a:solidFill>
              </a:defRPr>
            </a:pPr>
            <a:r>
              <a:rPr sz="1050" b="1">
                <a:solidFill>
                  <a:srgbClr val="EF5B5B"/>
                </a:solidFill>
              </a:rPr>
              <a:t>LONGAGENT · EMNLP 2024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3687D-8F9C-4A6F-8F19-9F5EE964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写作上最值得借鉴：先制造张力，再逐层兑现贡献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FD935-E1ED-46B7-A0A4-5D629C62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C165C-AC60-444A-9DB2-245FA68C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B5B"/>
                </a:solidFill>
              </a:defRPr>
            </a:pPr>
            <a:r>
              <a:rPr sz="1800" b="1">
                <a:solidFill>
                  <a:srgbClr val="EF5B5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2635E-ED7A-4921-85E6-6E86BEF0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716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标题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BC1D6-9930-44CC-AE87-CE7832F8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71650"/>
            <a:ext cx="866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A"/>
                </a:solidFill>
              </a:defRPr>
            </a:pPr>
            <a:r>
              <a:rPr sz="1425" b="0">
                <a:solidFill>
                  <a:srgbClr val="60708A"/>
                </a:solidFill>
              </a:rPr>
              <a:t>直接给出目标尺度（128k）与机制（multi-agent collaboration）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836CC-F0D4-4B9C-B909-E99053EA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09086-E057-4824-B600-D7898309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B5B"/>
                </a:solidFill>
              </a:defRPr>
            </a:pPr>
            <a:r>
              <a:rPr sz="1800" b="1">
                <a:solidFill>
                  <a:srgbClr val="EF5B5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4AEC9-3830-4EA6-9AF3-330B8EC1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98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摘要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89D58-0DD4-45E2-A7CA-A20E321E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09850"/>
            <a:ext cx="866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A"/>
                </a:solidFill>
              </a:defRPr>
            </a:pPr>
            <a:r>
              <a:rPr sz="1425" b="0">
                <a:solidFill>
                  <a:srgbClr val="60708A"/>
                </a:solidFill>
              </a:rPr>
              <a:t>问题 → 方法 → 幻觉难点 → 修正机制 → 定量结果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B547A-9ACA-45ED-A204-8E0122AC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05106-77B9-41F8-B667-E5000188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B5B"/>
                </a:solidFill>
              </a:defRPr>
            </a:pPr>
            <a:r>
              <a:rPr sz="1800" b="1">
                <a:solidFill>
                  <a:srgbClr val="EF5B5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23494-C36C-4C4C-96E3-AA3E3A42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480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引言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23DB5-F56C-4B3F-82A8-C72059D0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48050"/>
            <a:ext cx="866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A"/>
                </a:solidFill>
              </a:defRPr>
            </a:pPr>
            <a:r>
              <a:rPr sz="1425" b="0">
                <a:solidFill>
                  <a:srgbClr val="60708A"/>
                </a:solidFill>
              </a:rPr>
              <a:t>两类既有路线均有缺口，顺势引出“系统级替代方案”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3B3C3-BAC7-436E-8600-30EE822B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C6918-1665-4759-ADA5-29A9A26E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B5B"/>
                </a:solidFill>
              </a:defRPr>
            </a:pPr>
            <a:r>
              <a:rPr sz="1800" b="1">
                <a:solidFill>
                  <a:srgbClr val="EF5B5B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9904F-F242-4E20-95AF-DD2324CC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6B8221-53E7-49F9-AFBD-F671EFA9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86250"/>
            <a:ext cx="866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A"/>
                </a:solidFill>
              </a:defRPr>
            </a:pPr>
            <a:r>
              <a:rPr sz="1425" b="0">
                <a:solidFill>
                  <a:srgbClr val="60708A"/>
                </a:solidFill>
              </a:rPr>
              <a:t>总览图先行，再按协同推理、冲突消解、答案生成展开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86F0C-498C-40A2-939F-C4C40089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31919-F9A7-4C02-8896-D4670D6D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B5B"/>
                </a:solidFill>
              </a:defRPr>
            </a:pPr>
            <a:r>
              <a:rPr sz="1800" b="1">
                <a:solidFill>
                  <a:srgbClr val="EF5B5B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68F02-FC9E-4162-AB07-D4A7BDDC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244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实验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071AE-D7B9-4A33-AC4E-C7FC6AB0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24450"/>
            <a:ext cx="866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A"/>
                </a:solidFill>
              </a:defRPr>
            </a:pPr>
            <a:r>
              <a:rPr sz="1425" b="0">
                <a:solidFill>
                  <a:srgbClr val="60708A"/>
                </a:solidFill>
              </a:rPr>
              <a:t>新基准证明新能力，公共基准证明可比性与外部有效性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3259B-D985-47F0-9F5B-E5A6E127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A"/>
                </a:solidFill>
              </a:defRPr>
            </a:pPr>
            <a:r>
              <a:rPr sz="825" b="0">
                <a:solidFill>
                  <a:srgbClr val="60708A"/>
                </a:solidFill>
              </a:rPr>
              <a:t>论文结构分析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FCA39-DA64-4C4F-8E6C-9076C2F6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A"/>
                </a:solidFill>
              </a:defRPr>
            </a:pPr>
            <a:r>
              <a:rPr sz="900" b="1">
                <a:solidFill>
                  <a:srgbClr val="60708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734254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DDAA71-9ADB-4B3C-9FB1-A5850983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5B5B"/>
                </a:solidFill>
              </a:defRPr>
            </a:pPr>
            <a:r>
              <a:rPr sz="1050" b="1">
                <a:solidFill>
                  <a:srgbClr val="EF5B5B"/>
                </a:solidFill>
              </a:rPr>
              <a:t>LONGAGENT · EMNLP 2024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8D0FA-084E-4F44-BAAD-BEE45E41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如果复用这篇论文的写法，记住四个动作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A92DA-B602-48F6-92FC-2ED55634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8173E-AF9C-4F88-8C66-40000541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1054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EE424-783F-47CB-9123-ACFDC0A4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F5B5B"/>
                </a:solidFill>
              </a:defRPr>
            </a:pPr>
            <a:r>
              <a:rPr sz="1875" b="1">
                <a:solidFill>
                  <a:srgbClr val="EF5B5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8CED2-2FB3-4E57-8215-78FC68DF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383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把尺度写进标题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85C4E-CE6E-4F84-8ED6-25E66807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95550"/>
            <a:ext cx="3790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A"/>
                </a:solidFill>
              </a:defRPr>
            </a:pPr>
            <a:r>
              <a:rPr sz="1350" b="0">
                <a:solidFill>
                  <a:srgbClr val="60708A"/>
                </a:solidFill>
              </a:rPr>
              <a:t>让读者立刻知道突破点在哪里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AB30D-7EC6-489F-A6B3-58966CD7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51054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CA650-7CB4-41F4-B1C7-D9AC696D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7DFF"/>
                </a:solidFill>
              </a:defRPr>
            </a:pPr>
            <a:r>
              <a:rPr sz="1875" b="1">
                <a:solidFill>
                  <a:srgbClr val="377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CFA93-B986-4096-AE3F-C52E8CE2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383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把系统缺陷写进方法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D9AC8-CD3C-454C-B5F8-889C48A4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95550"/>
            <a:ext cx="3790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A"/>
                </a:solidFill>
              </a:defRPr>
            </a:pPr>
            <a:r>
              <a:rPr sz="1350" b="0">
                <a:solidFill>
                  <a:srgbClr val="60708A"/>
                </a:solidFill>
              </a:rPr>
              <a:t>幻觉不是附带问题，而是驱动 CONFLICT 机制的核心矛盾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167F8-A65C-4C53-9087-9FDD816F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1054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324E1-F4CC-476A-B94C-13852C22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B7A9"/>
                </a:solidFill>
              </a:defRPr>
            </a:pPr>
            <a:r>
              <a:rPr sz="1875" b="1">
                <a:solidFill>
                  <a:srgbClr val="2AB7A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C0CDE-FDAB-4A8E-B563-C1E685C4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481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让评测对应贡献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EB7E0-F7A1-48D5-8CF2-C481EFD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3790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A"/>
                </a:solidFill>
              </a:defRPr>
            </a:pPr>
            <a:r>
              <a:rPr sz="1350" b="0">
                <a:solidFill>
                  <a:srgbClr val="60708A"/>
                </a:solidFill>
              </a:rPr>
              <a:t>声称多跳能力，就构造多 needle 的多跳基准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DC338-9E36-4BBA-A70C-B7907899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51054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1BAA2-124D-4A5D-9EAC-CFF8E6FC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6715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C969"/>
                </a:solidFill>
              </a:defRPr>
            </a:pPr>
            <a:r>
              <a:rPr sz="1875" b="1">
                <a:solidFill>
                  <a:srgbClr val="F3C969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F9AB1-EF31-482F-94A8-13D1A10C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481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用边界提升可信度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0BE83-0ED7-4421-8980-1FB98752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3790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A"/>
                </a:solidFill>
              </a:defRPr>
            </a:pPr>
            <a:r>
              <a:rPr sz="1350" b="0">
                <a:solidFill>
                  <a:srgbClr val="60708A"/>
                </a:solidFill>
              </a:rPr>
              <a:t>明确它不是长上下文模型，也不是传统 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588F61-68FC-4222-B7E0-0A5254E8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最终判断：LONGAGENT 的新意不在“更多代理”，而在把长文档 QA 组织成可迭代、可纠错的协作过程。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F2D2A4-7FE4-47AD-B257-5CF536E8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A"/>
                </a:solidFill>
              </a:defRPr>
            </a:pPr>
            <a:r>
              <a:rPr sz="825" b="0">
                <a:solidFill>
                  <a:srgbClr val="60708A"/>
                </a:solidFill>
              </a:rPr>
              <a:t>Zhao et al., 2024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4ADBE-BA81-4446-9529-82997D85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A"/>
                </a:solidFill>
              </a:defRPr>
            </a:pPr>
            <a:r>
              <a:rPr sz="900" b="1">
                <a:solidFill>
                  <a:srgbClr val="60708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18278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2026-07-04T03:30:29.6400000Z</dcterms:created>
  <dcterms:modified xsi:type="dcterms:W3CDTF">2026-07-04T03:30:29.6400000Z</dcterms:modified>
</coreProperties>
</file>